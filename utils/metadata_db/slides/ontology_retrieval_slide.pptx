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530352"/>
          </a:xfrm>
          <a:prstGeom prst="rect">
            <a:avLst/>
          </a:prstGeom>
          <a:noFill/>
        </p:spPr>
        <p:txBody>
          <a:bodyPr wrap="non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Ontology-Guided Retrieval for Deep Subtraction Angiography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1338560" cy="310896"/>
          </a:xfrm>
          <a:prstGeom prst="rect">
            <a:avLst/>
          </a:prstGeom>
          <a:noFill/>
        </p:spPr>
        <p:txBody>
          <a:bodyPr wrap="non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C8D6E5"/>
                </a:solidFill>
                <a:latin typeface="Calibri"/>
              </a:rPr>
              <a:t>Injecting an artery ontology into the RAD-DINO + ChromaDB image-similarity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521208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74C3C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078992"/>
            <a:ext cx="59436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980B9"/>
                </a:solidFill>
                <a:latin typeface="Calibri"/>
              </a:rPr>
              <a:t>The Idea — inject an artery ontology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1371600"/>
            <a:ext cx="0" cy="4187952"/>
          </a:xfrm>
          <a:prstGeom prst="line">
            <a:avLst/>
          </a:prstGeom>
          <a:ln w="12700">
            <a:solidFill>
              <a:srgbClr val="C8D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426464"/>
            <a:ext cx="52578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7636D"/>
                </a:solidFill>
                <a:latin typeface="Calibri"/>
              </a:rPr>
              <a:t>RAD-DINO + ChromaDB kNN classifies 24 fine-grained artery labels, scored by exact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32304"/>
            <a:ext cx="4069080" cy="2596896"/>
          </a:xfrm>
          <a:prstGeom prst="roundRect">
            <a:avLst>
              <a:gd name="adj" fmla="val 5000"/>
            </a:avLst>
          </a:prstGeom>
          <a:noFill/>
          <a:ln w="285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811780" y="2350008"/>
            <a:ext cx="0" cy="192024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714500" y="2926080"/>
            <a:ext cx="1097280" cy="274320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11780" y="2926080"/>
            <a:ext cx="1188720" cy="274320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14500" y="3584448"/>
            <a:ext cx="0" cy="274320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20140" y="4242816"/>
            <a:ext cx="594360" cy="274320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4242816"/>
            <a:ext cx="594360" cy="274320"/>
          </a:xfrm>
          <a:prstGeom prst="line">
            <a:avLst/>
          </a:prstGeom>
          <a:ln w="19050">
            <a:solidFill>
              <a:srgbClr val="5763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1720" y="1965960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Aorta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542032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Celiac trunk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200400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Common hepatic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200400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Splenic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3858768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Proper hepatic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17136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Hepatic 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17136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Hepatic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29200"/>
            <a:ext cx="4069080" cy="2743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B9770E"/>
                </a:solidFill>
                <a:latin typeface="Calibri"/>
              </a:rPr>
              <a:t>One selective injection → the whole subtree opacifies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349240"/>
            <a:ext cx="52578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74C3C"/>
                </a:solidFill>
                <a:latin typeface="Calibri"/>
              </a:rPr>
              <a:t>Exact-match penalises anatomically-correct hits: </a:t>
            </a:r>
            <a:r>
              <a:rPr sz="1050" b="1" i="0">
                <a:solidFill>
                  <a:srgbClr val="E74C3C"/>
                </a:solidFill>
                <a:latin typeface="Calibri"/>
              </a:rPr>
              <a:t>CT→CHA</a:t>
            </a:r>
            <a:r>
              <a:rPr sz="1050" b="0" i="0">
                <a:solidFill>
                  <a:srgbClr val="E74C3C"/>
                </a:solidFill>
                <a:latin typeface="Calibri"/>
              </a:rPr>
              <a:t> (parent/child), </a:t>
            </a:r>
            <a:r>
              <a:rPr sz="1050" b="1" i="0">
                <a:solidFill>
                  <a:srgbClr val="E74C3C"/>
                </a:solidFill>
                <a:latin typeface="Calibri"/>
              </a:rPr>
              <a:t>RA-L→RA-R</a:t>
            </a:r>
            <a:r>
              <a:rPr sz="1050" b="0" i="0">
                <a:solidFill>
                  <a:srgbClr val="E74C3C"/>
                </a:solidFill>
                <a:latin typeface="Calibri"/>
              </a:rPr>
              <a:t> (laterality) — all scored as full misses.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426464"/>
            <a:ext cx="589788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7636D"/>
                </a:solidFill>
                <a:latin typeface="Calibri"/>
              </a:rPr>
              <a:t>Model the 24 angio_run labels as an aorta-rooted tree (branch-of, laterality-mirror, co-opacified-with edges); anchor to FMA / RadLex.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965960"/>
            <a:ext cx="5897880" cy="78638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81344" y="2157984"/>
            <a:ext cx="402336" cy="402336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1965960"/>
            <a:ext cx="5111496" cy="7863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C3E50"/>
                </a:solidFill>
                <a:latin typeface="Calibri"/>
              </a:rPr>
              <a:t>Ontology as the metric.  </a:t>
            </a:r>
            <a:r>
              <a:rPr sz="1150" b="0" i="0">
                <a:solidFill>
                  <a:srgbClr val="57636D"/>
                </a:solidFill>
                <a:latin typeface="Calibri"/>
              </a:rPr>
              <a:t>Hierarchical (Wu–Palmer / info-content) + set-valued (tree-Jaccard) scoring → partial credit for near hits.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871215"/>
            <a:ext cx="5897880" cy="78638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81344" y="3063239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2871215"/>
            <a:ext cx="5111496" cy="7863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C3E50"/>
                </a:solidFill>
                <a:latin typeface="Calibri"/>
              </a:rPr>
              <a:t>Graph-smoothed kNN + re-rank.  </a:t>
            </a:r>
            <a:r>
              <a:rPr sz="1150" b="0" i="0">
                <a:solidFill>
                  <a:srgbClr val="57636D"/>
                </a:solidFill>
                <a:latin typeface="Calibri"/>
              </a:rPr>
              <a:t>Propagate votes along the tree; constrain by report / series text. No retraining — the fastest win.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776472"/>
            <a:ext cx="5897880" cy="78638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81344" y="3968496"/>
            <a:ext cx="402336" cy="402336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3776472"/>
            <a:ext cx="5111496" cy="7863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C3E50"/>
                </a:solidFill>
                <a:latin typeface="Calibri"/>
              </a:rPr>
              <a:t>Hierarchy-aware embeddings.  </a:t>
            </a:r>
            <a:r>
              <a:rPr sz="1150" b="0" i="0">
                <a:solidFill>
                  <a:srgbClr val="57636D"/>
                </a:solidFill>
                <a:latin typeface="Calibri"/>
              </a:rPr>
              <a:t>Taxonomic-margin or hyperbolic head on frozen RAD-DINO; tree-constrained multi-label posteriors as the retrieval vector.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681727"/>
            <a:ext cx="5897880" cy="786384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C8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81344" y="4873751"/>
            <a:ext cx="402336" cy="402336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696" y="4681727"/>
            <a:ext cx="5111496" cy="7863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C3E50"/>
                </a:solidFill>
                <a:latin typeface="Calibri"/>
              </a:rPr>
              <a:t>Temporal + structural.  </a:t>
            </a:r>
            <a:r>
              <a:rPr sz="1150" b="0" i="0">
                <a:solidFill>
                  <a:srgbClr val="57636D"/>
                </a:solidFill>
                <a:latin typeface="Calibri"/>
              </a:rPr>
              <a:t>Model proximal→distal opacification order; scene-graph / GNN retrieval for multi-vessel runs (novel tier).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879592"/>
            <a:ext cx="12191695" cy="32004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989320"/>
            <a:ext cx="114300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74C3C"/>
                </a:solidFill>
                <a:latin typeface="Calibri"/>
              </a:rPr>
              <a:t>Why it’s novel:  </a:t>
            </a:r>
            <a:r>
              <a:rPr sz="1200" b="0" i="0">
                <a:solidFill>
                  <a:srgbClr val="2C3E50"/>
                </a:solidFill>
                <a:latin typeface="Calibri"/>
              </a:rPr>
              <a:t>ontology-guided CBIR for visceral DSA with set-valued, temporally-aware retrieval — this combination appears unexplored.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373368"/>
            <a:ext cx="114300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C3E50"/>
                </a:solidFill>
                <a:latin typeface="Calibri"/>
              </a:rPr>
              <a:t>Builds on:  </a:t>
            </a:r>
            <a:r>
              <a:rPr sz="1050" b="0" i="0">
                <a:solidFill>
                  <a:srgbClr val="57636D"/>
                </a:solidFill>
                <a:latin typeface="Calibri"/>
              </a:rPr>
              <a:t>Bertinetto+ 2020 (better mistakes) · Barz &amp; Denzler 2019 (hierarchy embeddings) · Poincaré / hyperbolic embeddings 2017–2020 · C-HMCNN 2020 · IRMA (ontology-coded medical retrieval).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